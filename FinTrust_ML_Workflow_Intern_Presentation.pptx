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MACHINE LEARNING ENGINEERING TRACK —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1A5276"/>
                </a:solidFill>
              </a:defRPr>
            </a:pPr>
            <a:r>
              <a:t>FinTrust ML Workflow</a:t>
            </a:r>
          </a:p>
          <a:p>
            <a:pPr>
              <a:spcAft>
                <a:spcPts val="1600"/>
              </a:spcAft>
              <a:defRPr sz="2200">
                <a:solidFill>
                  <a:srgbClr val="2980B9"/>
                </a:solidFill>
              </a:defRPr>
            </a:pPr>
            <a:r>
              <a:t>Initial Implementation: From Architecture to Production Pipeline</a:t>
            </a:r>
          </a:p>
          <a:p>
            <a:pPr>
              <a:defRPr sz="1500">
                <a:solidFill>
                  <a:srgbClr val="2C3E50"/>
                </a:solidFill>
              </a:defRPr>
            </a:pPr>
            <a:r>
              <a:t>Mentor Walkthrough &amp; Intern Training Deck | Banking Risk Review Case Study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303520"/>
            <a:ext cx="10728655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A5276"/>
                </a:solidFill>
              </a:defRPr>
            </a:pPr>
            <a:r>
              <a:t>Deliverables: Data Validation • Reproducible Preprocessing • 7-Stage Prediction Pipeline • Automated Tests • REST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980B9"/>
                </a:solidFill>
              </a:defRPr>
            </a:pPr>
            <a:r>
              <a:t>FINTRUST ML WORKFLOW | WEEK 2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5276"/>
                </a:solidFill>
              </a:defRPr>
            </a:pPr>
            <a:r>
              <a:t>The Real-World Banking Problem: FinTrust Fraud Triage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A5276"/>
                </a:solidFill>
              </a:defRPr>
            </a:pPr>
            <a:r>
              <a:t>The Core Challenge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FinTrust processes 12,000+ customer transactions daily across Nigeria.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Transactions originate from Mobile Apps, POS terminals, Web, ATMs, and USSD.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A subset of transactions are fraudulent or violate compliance rules.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Human fraud officers cannot manually review 12,000 transactions/day.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Delays cause customer dissatisfaction; missed fraud causes millions in losses.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980B9"/>
                </a:solidFill>
              </a:defRPr>
            </a:pPr>
            <a:r>
              <a:t>The Machine Learning Mission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Target Variable: Risk_Review_Flag ('Yes' or 'No').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Goal: Build an automated ML pipeline to score each transaction instantly.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The model estimates the probability of risk: from 0.0% to 100.0%.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Operational Action: High-risk transactions are held for review; medium-risk require OTP; low-risk are auto-approved.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Critical Rule: Pipeline must be reliable, reproducible, and immune to corrupted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980B9"/>
                </a:solidFill>
              </a:defRPr>
            </a:pPr>
            <a:r>
              <a:t>FINTRUST ML WORKFLOW | WEEK 2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5276"/>
                </a:solidFill>
              </a:defRPr>
            </a:pPr>
            <a:r>
              <a:t>Production ML vs. Academic/Tutorial ML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C0392B"/>
                </a:solidFill>
              </a:defRPr>
            </a:pPr>
            <a:r>
              <a:t>Tutorial ML (The Rookie Approach)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Everything in a single 2,000-line Jupyter Notebook.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Assumes input data is always clean and perfectly formatted.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Calls fit_transform() on the entire dataset (Severe Data Leakage!).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Uses pd.get_dummies() which crashes when unseen categories appear.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No automated tests: 'It works on my machine!'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Cannot be integrated into bank backend systems or microservices.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7AE60"/>
                </a:solidFill>
              </a:defRPr>
            </a:pPr>
            <a:r>
              <a:t>Production ML (Our Engineering Standard)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Modular Repository: Separation of validation, math, model, and API.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Defensive Validation: Rejects bad data before it touches the model.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Leakage-Free: Preprocessor fitted strictly on X_train; frozen with joblib.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Fault-Tolerant: Handles unobserved categories safely with zero NaNs.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Automated Test Suite: 12 pytest tests verifying edge cases and determinism.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Deployable: Packaged as a real-time FastAPI microservice.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980B9"/>
                </a:solidFill>
              </a:defRPr>
            </a:pPr>
            <a:r>
              <a:t>FINTRUST ML WORKFLOW | WEEK 2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5276"/>
                </a:solidFill>
              </a:defRPr>
            </a:pPr>
            <a:r>
              <a:t>The 7-Stage Assembly Line: How Data Moves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371600" cy="3840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2980B9"/>
                </a:solidFill>
              </a:defRPr>
            </a:pPr>
            <a:r>
              <a:t>Stage 1</a:t>
            </a:r>
          </a:p>
          <a:p>
            <a:pPr>
              <a:spcAft>
                <a:spcPts val="1000"/>
              </a:spcAft>
              <a:defRPr sz="1400" b="1">
                <a:solidFill>
                  <a:srgbClr val="1A5276"/>
                </a:solidFill>
              </a:defRPr>
            </a:pPr>
            <a:r>
              <a:t>Ingestion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Raw JSON/Dict payload received.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011680"/>
            <a:ext cx="1371600" cy="38404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2980B9"/>
                </a:solidFill>
              </a:defRPr>
            </a:pPr>
            <a:r>
              <a:t>Stage 2</a:t>
            </a:r>
          </a:p>
          <a:p>
            <a:pPr>
              <a:spcAft>
                <a:spcPts val="1000"/>
              </a:spcAft>
              <a:defRPr sz="1400" b="1">
                <a:solidFill>
                  <a:srgbClr val="1A5276"/>
                </a:solidFill>
              </a:defRPr>
            </a:pPr>
            <a:r>
              <a:t>Validation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Firewall checks types, nulls, ranges.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2011680"/>
            <a:ext cx="1371600" cy="3840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2980B9"/>
                </a:solidFill>
              </a:defRPr>
            </a:pPr>
            <a:r>
              <a:t>Stage 3</a:t>
            </a:r>
          </a:p>
          <a:p>
            <a:pPr>
              <a:spcAft>
                <a:spcPts val="1000"/>
              </a:spcAft>
              <a:defRPr sz="1400" b="1">
                <a:solidFill>
                  <a:srgbClr val="1A5276"/>
                </a:solidFill>
              </a:defRPr>
            </a:pPr>
            <a:r>
              <a:t>Preprocessing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Extracts Hour, Weekend, imputes nulls.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59" y="2011680"/>
            <a:ext cx="1371600" cy="3840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2980B9"/>
                </a:solidFill>
              </a:defRPr>
            </a:pPr>
            <a:r>
              <a:t>Stage 4</a:t>
            </a:r>
          </a:p>
          <a:p>
            <a:pPr>
              <a:spcAft>
                <a:spcPts val="1000"/>
              </a:spcAft>
              <a:defRPr sz="1400" b="1">
                <a:solidFill>
                  <a:srgbClr val="1A5276"/>
                </a:solidFill>
              </a:defRPr>
            </a:pPr>
            <a:r>
              <a:t>Feature Prep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Encodes text categories to fixed matrix.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011680"/>
            <a:ext cx="1371600" cy="384048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2980B9"/>
                </a:solidFill>
              </a:defRPr>
            </a:pPr>
            <a:r>
              <a:t>Stage 5</a:t>
            </a:r>
          </a:p>
          <a:p>
            <a:pPr>
              <a:spcAft>
                <a:spcPts val="1000"/>
              </a:spcAft>
              <a:defRPr sz="1400" b="1">
                <a:solidFill>
                  <a:srgbClr val="1A5276"/>
                </a:solidFill>
              </a:defRPr>
            </a:pPr>
            <a:r>
              <a:t>Inference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Random Forest computes probability.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2011680"/>
            <a:ext cx="1371600" cy="3840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2980B9"/>
                </a:solidFill>
              </a:defRPr>
            </a:pPr>
            <a:r>
              <a:t>Stage 6</a:t>
            </a:r>
          </a:p>
          <a:p>
            <a:pPr>
              <a:spcAft>
                <a:spcPts val="1000"/>
              </a:spcAft>
              <a:defRPr sz="1400" b="1">
                <a:solidFill>
                  <a:srgbClr val="1A5276"/>
                </a:solidFill>
              </a:defRPr>
            </a:pPr>
            <a:r>
              <a:t>Decision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Applies 0.35 threshold &amp; risk tiers.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2011680"/>
            <a:ext cx="1371600" cy="3840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2980B9"/>
                </a:solidFill>
              </a:defRPr>
            </a:pPr>
            <a:r>
              <a:t>Stage 7</a:t>
            </a:r>
          </a:p>
          <a:p>
            <a:pPr>
              <a:spcAft>
                <a:spcPts val="1000"/>
              </a:spcAft>
              <a:defRPr sz="1400" b="1">
                <a:solidFill>
                  <a:srgbClr val="1A5276"/>
                </a:solidFill>
              </a:defRPr>
            </a:pPr>
            <a:r>
              <a:t>Output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Returns enriched JSON decision payload.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980B9"/>
                </a:solidFill>
              </a:defRPr>
            </a:pPr>
            <a:r>
              <a:t>FINTRUST ML WORKFLOW | WEEK 2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5276"/>
                </a:solidFill>
              </a:defRPr>
            </a:pPr>
            <a:r>
              <a:t>Part B — Data Validation: The Airport Security Guard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A5276"/>
                </a:solidFill>
              </a:defRPr>
            </a:pPr>
            <a:r>
              <a:t>The 6 Integrity Checks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1. Empty Dataset: Rejects 0-row inputs immediately.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2. Column Schema: Checks for missing or unexpected columns.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3. Data Types: Enforces Amount_NGN is numeric, not string.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4. Missing Values: Rejects null IDs; flags features for imputation.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5. Category Checks: Flags unauthorized values (e.g. Channel='Telepathy').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6. Numeric Boundaries: Rejects non-positive amounts (&lt;= 0).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980B9"/>
                </a:solidFill>
              </a:defRPr>
            </a:pPr>
            <a:r>
              <a:t>Failure Handling: Strict vs. Lenient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Online REST API (Strict Mode):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• Raises DataValidationError immediately.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• Returns HTTP 422 Unprocessable Entity with error list.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• Protects model from crashing on bad data.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Batch ETL (Lenient Mode):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• Logs non-critical warnings (e.g. missing Device_Type).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• Passes acceptable nulls to median/mode imputers.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• Quarantines corrupt records for manual compliance audit.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980B9"/>
                </a:solidFill>
              </a:defRPr>
            </a:pPr>
            <a:r>
              <a:t>FINTRUST ML WORKFLOW | WEEK 2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5276"/>
                </a:solidFill>
              </a:defRPr>
            </a:pPr>
            <a:r>
              <a:t>Part C — Preprocessing &amp; Preventing Data Leakage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C0392B"/>
                </a:solidFill>
              </a:defRPr>
            </a:pPr>
            <a:r>
              <a:t>The Threat: Data Leakage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What is Leakage?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• Using future information (test set stats) during training.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• Calculating global means/medians before splitting data.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The Consequence: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• Models look 99% accurate in Jupyter, but fail in production.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The Solution (Scikit-Learn Pipeline):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• FIT strictly on X_train (learn medians, means, categories).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• TRANSFORM on X_test and production inputs.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7AE60"/>
                </a:solidFill>
              </a:defRPr>
            </a:pPr>
            <a:r>
              <a:t>Our Pipeline Features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1. Temporal Signals (TemporalFeatureExtractor):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• Converts Excel dates (46023.0) to UTC datetime.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• Extracts Transaction_Hour (e.g. 3 AM) and Is_Weekend.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2. Missing Imputation: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• Numerical: Median imputer.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• Categorical: Constant imputer ('Missing').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3. OneHotEncoder(handle_unknown='ignore'):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• If 'WhatsApp' appears in production, assigns all zeros.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• Matrix width is fixed at 36 columns; never crashes!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980B9"/>
                </a:solidFill>
              </a:defRPr>
            </a:pPr>
            <a:r>
              <a:t>FINTRUST ML WORKFLOW | WEEK 2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5276"/>
                </a:solidFill>
              </a:defRPr>
            </a:pPr>
            <a:r>
              <a:t>Part D — Model Inference &amp; Decision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A5276"/>
                </a:solidFill>
              </a:defRPr>
            </a:pPr>
            <a:r>
              <a:t>Training Strategy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Model: Random Forest Classifier (100 trees, depth 12).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Imbalanced Target: 19.6% Fraud ('Yes') vs 80.4% Normal ('No').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Class Weights: class_weight='balanced' ensures the model does not ignore minority fraud cases.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Stratified Split: 80% Train (9,600) / 20% Test (2,400).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Key Metrics (Hold-Out Test Set):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• ROC-AUC: 0.6578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• Recall: 81.49% (Catches 8 out of 10 risky transactions!)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980B9"/>
                </a:solidFill>
              </a:defRPr>
            </a:pPr>
            <a:r>
              <a:t>Operational Risk Tiers (Threshold = 0.35)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Why Not 0.50 Threshold?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• In fraud, missing fraud is far more costly than false alarms.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• Lowering threshold to 0.35 prioritizes Recall.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Downstream Banking Actions: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• High Risk (Probability &gt;= 0.70):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    Action: Immediate Hold / Human Compliance Review.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• Medium Risk (0.30 &lt;= Probability &lt; 0.70):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    Action: Secondary Verification (SMS OTP).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• Low Risk (Probability &lt; 0.30):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    Action: Instant Auto-Approval.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980B9"/>
                </a:solidFill>
              </a:defRPr>
            </a:pPr>
            <a:r>
              <a:t>FINTRUST ML WORKFLOW | WEEK 2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5276"/>
                </a:solidFill>
              </a:defRPr>
            </a:pPr>
            <a:r>
              <a:t>Part E — Technical Testing: Proving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714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7AE60"/>
                </a:solidFill>
              </a:defRPr>
            </a:pPr>
            <a:r>
              <a:t>12 Automated Tests (All Passing in 0.68 seconds)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test_valid_input                  -&gt; Valid payload passes validation cleanly [PASS]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test_missing_values               -&gt; Missing features generate warnings; missing ID raises error [PASS]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test_unexpected_category          -&gt; Channel='Telepathy' caught and blocked with UNEXPECTED_CATEGORY [PASS]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test_incorrect_data_type          -&gt; String in Amount_NGN caught with INCORRECT_DATA_TYPE [PASS]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test_empty_dataset                -&gt; 0-row DataFrame blocked with EMPTY_DATASET [PASS]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test_negative_amount              -&gt; Amount &lt;= 0 blocked with OUT_OF_RANGE [PASS]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test_temporal_extraction          -&gt; Correctly parses Excel dates into Hour, DayOfWeek, Weekend [PASS]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test_unseen_categories            -&gt; Unobserved category at inference safely zeroed out; 0 NaNs [PASS]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test_missing_imputation           -&gt; Missing numericals and categoricals imputed cleanly [PASS]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test_pipeline_prediction          -&gt; End-to-end 7-stage prediction generates valid score and tier [PASS]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test_pipeline_rejection           -&gt; Corrupt input halted at Stage 2 (Validation); model protected [PASS]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test_reproducibility              -&gt; Repeated scoring yields identical probabilities (&gt;= 6 d.p.) [PASS]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980B9"/>
                </a:solidFill>
              </a:defRPr>
            </a:pPr>
            <a:r>
              <a:t>FINTRUST ML WORKFLOW | WEEK 2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5276"/>
                </a:solidFill>
              </a:defRPr>
            </a:pPr>
            <a:r>
              <a:t>Advanced Component — Serving via FastAPI Microservice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A5276"/>
                </a:solidFill>
              </a:defRPr>
            </a:pPr>
            <a:r>
              <a:t>From Experiment to Service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Why an API?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• Real bank applications (mobile apps, ATMs) need HTTP endpoints to request real-time scores.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FastAPI Implementation (src/api/app.py):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• GET /health : Health check, model version, readiness.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• POST /predict : Real-time single transaction scoring.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• POST /predict/batch : High-throughput batch scoring.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• Pydantic validation: Validates types at the door.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• Swagger UI at http://127.0.0.1:8000/docs.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980B9"/>
                </a:solidFill>
              </a:defRPr>
            </a:pPr>
            <a:r>
              <a:t>Sample API Response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POST /predict -&gt; Status: 200 OK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{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"Transaction_ID": "FT-T100001",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"Customer_ID": "FT-C00234",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"Predicted_Risk_Flag": "Yes",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"Risk_Probability": 0.7622,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"Risk_Tier": "High",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"Operational_Action": "Immediate Review / Hold",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"Scored_At": "2026-09-22T00:40:28Z"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980B9"/>
                </a:solidFill>
              </a:defRPr>
            </a:pPr>
            <a:r>
              <a:t>FINTRUST ML WORKFLOW | WEEK 2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5276"/>
                </a:solidFill>
              </a:defRPr>
            </a:pPr>
            <a:r>
              <a:t>Mentor Session Plan: 30-Minute Live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714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A5276"/>
                </a:solidFill>
              </a:defRPr>
            </a:pPr>
            <a:r>
              <a:t>Step-by-Step Teaching Script for Your Live Class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Min 00-05 | Set the Stage: Introduce FinTrust Bank, 12,000 transactions, and the need for automated fraud triage.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Min 05-12 | Live Walkthrough: Open terminal and run `python main.py --predict-sample` to show the 7 stages live on screen.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Min 12-20 | Teach Data Validation: Ask: 'What if someone enters amount = -500?' Show how DataValidator rejects it.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Min 20-25 | Run Automated Tests: Run `python main.py --test` to show 12 green tests passing in &lt; 1 second.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Min 25-30 | Interactive Notebook: Open `notebooks/intern_walkthrough.ipynb` to visualize features and data distributions.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980B9"/>
                </a:solidFill>
              </a:defRPr>
            </a:pPr>
            <a:r>
              <a:t>FINTRUST ML WORKFLOW | WEEK 2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5276"/>
                </a:solidFill>
              </a:defRPr>
            </a:pPr>
            <a:r>
              <a:t>Socratic Discussion Questions for Interns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980B9"/>
                </a:solidFill>
              </a:defRPr>
            </a:pPr>
            <a:r>
              <a:t>Questions to Ask in Class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Q1: 'Why can't we use a 50% threshold for fraud?'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-&gt; Answer: Missing fraud costs millions; sending an OTP costs kobo. Lowering threshold to 0.35 catches more fraud.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Q2: 'Why fit only on train and transform on test?'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-&gt; Answer: Prevents Data Leakage. Never peek into test data statistics!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Q3: 'What if a new channel appears in production?'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  -&gt; Answer: OneHotEncoder(handle_unknown='ignore') assigns zeros safely without crashing.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6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7AE60"/>
                </a:solidFill>
              </a:defRPr>
            </a:pPr>
            <a:r>
              <a:t>Core Takeaways for Interns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1. Modularity: Separate configs, validation, preprocessing, and modeling.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2. Defensive Design: Validate at boundaries; never trust incoming data.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3. Traceability: Know exactly what happened at each step of the pipeline.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4. Reproducibility: Version everything: code (git), dependencies (requirements.txt), and artifacts (joblib).</a:t>
            </a:r>
          </a:p>
          <a:p>
            <a:pPr>
              <a:spcAft>
                <a:spcPts val="500"/>
              </a:spcAft>
              <a:defRPr sz="1200">
                <a:solidFill>
                  <a:srgbClr val="2C3E50"/>
                </a:solidFill>
              </a:defRPr>
            </a:pPr>
            <a:r>
              <a:t>• 5. Testing: A model without tests is an incident waiting to happen.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