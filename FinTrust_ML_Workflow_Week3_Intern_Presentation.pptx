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FinTrust Machine Learning Engineering Track</a:t>
            </a:r>
          </a:p>
          <a:p>
            <a:br/>
            <a:pPr algn="ctr">
              <a:defRPr sz="2000">
                <a:solidFill>
                  <a:srgbClr val="D4A017"/>
                </a:solidFill>
              </a:defRPr>
            </a:pPr>
            <a:r>
              <a:t>Week 3: Integration-Ready ML Workflow Development</a:t>
            </a:r>
            <a:br/>
            <a:r>
              <a:t>Mentor Teaching Deck &amp; Technical Architecture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Evolution: Week 2 vs.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Week 2: Isolated Prototype: </a:t>
            </a:r>
            <a:r>
              <a:rPr sz="1700">
                <a:solidFill>
                  <a:srgbClr val="282828"/>
                </a:solidFill>
              </a:rPr>
              <a:t>Scored single transactions in isolation; no customer profile context; coupled to a single model script.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Week 3: Integration-Ready Platform: </a:t>
            </a:r>
            <a:r>
              <a:rPr sz="1700">
                <a:solidFill>
                  <a:srgbClr val="282828"/>
                </a:solidFill>
              </a:rPr>
              <a:t>Relational join with customer master data; PII redaction; standardized Model Adapter pattern.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Enterprise Data Contracts: </a:t>
            </a:r>
            <a:r>
              <a:rPr sz="1700">
                <a:solidFill>
                  <a:srgbClr val="282828"/>
                </a:solidFill>
              </a:rPr>
              <a:t>Unified FeatureSchema enforcing boundaries on both transactions and customer profiles.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Robust Microservice Architecture: </a:t>
            </a:r>
            <a:r>
              <a:rPr sz="1700">
                <a:solidFill>
                  <a:srgbClr val="282828"/>
                </a:solidFill>
              </a:rPr>
              <a:t>Modern FastAPI service with lifespan management, batch scoring, and governance metadata.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A: Audit &amp; Gap Analysis of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Single-Table Blindspot: </a:t>
            </a:r>
            <a:r>
              <a:rPr sz="1700">
                <a:solidFill>
                  <a:srgbClr val="282828"/>
                </a:solidFill>
              </a:rPr>
              <a:t>Transactions evaluated without customer income/segment led to severe false positives.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Coupling &amp; Collaboration Bottleneck: </a:t>
            </a:r>
            <a:r>
              <a:rPr sz="1700">
                <a:solidFill>
                  <a:srgbClr val="282828"/>
                </a:solidFill>
              </a:rPr>
              <a:t>No standard model interface; unable to easily ingest external Data Science models.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Data Privacy Risk: </a:t>
            </a:r>
            <a:r>
              <a:rPr sz="1700">
                <a:solidFill>
                  <a:srgbClr val="282828"/>
                </a:solidFill>
              </a:rPr>
              <a:t>Plaintext Customer_Name present in raw datasets required compliance redaction (NDPR/GDPR).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Testing &amp; Reproducibility Gaps: </a:t>
            </a:r>
            <a:r>
              <a:rPr sz="1700">
                <a:solidFill>
                  <a:srgbClr val="282828"/>
                </a:solidFill>
              </a:rPr>
              <a:t>Missing automated tests for customer profile validation, batch scoring, and reproducibility seeds.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B: Multi-Table Relational Enrichment &amp; PII Redaction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Customer Profile Ingestion: </a:t>
            </a:r>
            <a:r>
              <a:rPr sz="1700">
                <a:solidFill>
                  <a:srgbClr val="282828"/>
                </a:solidFill>
              </a:rPr>
              <a:t>Ingested 1,500 customer profiles with demographics, income bands, and digital scores.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PII Redaction Protocol: </a:t>
            </a:r>
            <a:r>
              <a:rPr sz="1700">
                <a:solidFill>
                  <a:srgbClr val="282828"/>
                </a:solidFill>
              </a:rPr>
              <a:t>Completely stripped Customer_Name before caching or feeding data into downstream pipelines.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Relational Left Join: </a:t>
            </a:r>
            <a:r>
              <a:rPr sz="1700">
                <a:solidFill>
                  <a:srgbClr val="282828"/>
                </a:solidFill>
              </a:rPr>
              <a:t>Joined on Customer_ID: 12,000 transactions with 100% customer match rate and 0 row inflation.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Stratified Partitioning: </a:t>
            </a:r>
            <a:r>
              <a:rPr sz="1700">
                <a:solidFill>
                  <a:srgbClr val="282828"/>
                </a:solidFill>
              </a:rPr>
              <a:t>9,600 train / 2,400 test records exported with balanced target distribution (19.6% fraud).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7-Stage Integration-Ready Prediction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Stage 1: Ingestion &amp; Auto-Enrichment: </a:t>
            </a:r>
            <a:r>
              <a:rPr sz="1700">
                <a:solidFill>
                  <a:srgbClr val="282828"/>
                </a:solidFill>
              </a:rPr>
              <a:t>Ingests raw transaction; automatically joins customer profile from cleaned feature cache.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Stage 2: Validation Firewall: </a:t>
            </a:r>
            <a:r>
              <a:rPr sz="1700">
                <a:solidFill>
                  <a:srgbClr val="282828"/>
                </a:solidFill>
              </a:rPr>
              <a:t>Executes 6 strict schema, type, null, range, and categorical domain checks.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Stage 3 &amp; 4: Preprocessing &amp; Scaling: </a:t>
            </a:r>
            <a:r>
              <a:rPr sz="1700">
                <a:solidFill>
                  <a:srgbClr val="282828"/>
                </a:solidFill>
              </a:rPr>
              <a:t>Extracts temporal signals (Hour, Day, Weekend); applies StandardScaling and OneHotEncoding.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Stage 5 &amp; 6: Inference &amp; Risk Triage: </a:t>
            </a:r>
            <a:r>
              <a:rPr sz="1700">
                <a:solidFill>
                  <a:srgbClr val="282828"/>
                </a:solidFill>
              </a:rPr>
              <a:t>Scores via Model Adapter; classifies using calibrated 0.35 threshold into Low/Med/High tiers.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Stage 7: Output Packaging: </a:t>
            </a:r>
            <a:r>
              <a:rPr sz="1700">
                <a:solidFill>
                  <a:srgbClr val="282828"/>
                </a:solidFill>
              </a:rPr>
              <a:t>Returns structured payload with probability, risk tier, action recommendation, and audit timestamp.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C: Model Integration &amp; The Adapter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Why the Adapter Pattern?: </a:t>
            </a:r>
            <a:r>
              <a:rPr sz="1700">
                <a:solidFill>
                  <a:srgbClr val="282828"/>
                </a:solidFill>
              </a:rPr>
              <a:t>Decouples model experimentation from the serving pipeline; enables collaboration with DS teams.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BaseModelAdapter (ABC): </a:t>
            </a:r>
            <a:r>
              <a:rPr sz="1700">
                <a:solidFill>
                  <a:srgbClr val="282828"/>
                </a:solidFill>
              </a:rPr>
              <a:t>Enforces universal contract: predict(), predict_proba(), get_metadata(), get_feature_importances().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FinTrustModelAdapter: </a:t>
            </a:r>
            <a:r>
              <a:rPr sz="1700">
                <a:solidFill>
                  <a:srgbClr val="282828"/>
                </a:solidFill>
              </a:rPr>
              <a:t>Wraps internal Scikit-Learn models (RandomForest) with tuned decision thresholds.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ExternalModelAdapter: </a:t>
            </a:r>
            <a:r>
              <a:rPr sz="1700">
                <a:solidFill>
                  <a:srgbClr val="282828"/>
                </a:solidFill>
              </a:rPr>
              <a:t>Permits instant plug-and-play of external models (XGBoost, LightGBM, peer intern models).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Comparison &amp;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Baseline: Logistic Regression: </a:t>
            </a:r>
            <a:r>
              <a:rPr sz="1700">
                <a:solidFill>
                  <a:srgbClr val="282828"/>
                </a:solidFill>
              </a:rPr>
              <a:t>ROC-AUC: 0.6693 | Recall: 88.72% | Precision: 22.40% | F1-Score: 0.3578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Production: Random Forest Classifier: </a:t>
            </a:r>
            <a:r>
              <a:rPr sz="1700">
                <a:solidFill>
                  <a:srgbClr val="282828"/>
                </a:solidFill>
              </a:rPr>
              <a:t>ROC-AUC: 0.6649 | Recall: 83.62% | Precision: 25.13% | F1-Score: 0.3864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Triage Strategy: </a:t>
            </a:r>
            <a:r>
              <a:rPr sz="1700">
                <a:solidFill>
                  <a:srgbClr val="282828"/>
                </a:solidFill>
              </a:rPr>
              <a:t>Low (&lt;0.30) = Auto-Approve | Med (0.30-0.70) = SMS OTP | High (&gt;=0.70) = Payment Hold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Model Governance: </a:t>
            </a:r>
            <a:r>
              <a:rPr sz="1700">
                <a:solidFill>
                  <a:srgbClr val="282828"/>
                </a:solidFill>
              </a:rPr>
              <a:t>Full hyperparameters, confusion matrix, and feature counts persisted to model_metadata.json.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D: 30-Point Technical Testing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Data Validation (7 Tests): </a:t>
            </a:r>
            <a:r>
              <a:rPr sz="1700">
                <a:solidFill>
                  <a:srgbClr val="282828"/>
                </a:solidFill>
              </a:rPr>
              <a:t>Valid input, missing features/IDs, illegal categories, invalid data types, empty data, out-of-range bounds.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Preprocessing &amp; Leakage (3 Tests): </a:t>
            </a:r>
            <a:r>
              <a:rPr sz="1700">
                <a:solidFill>
                  <a:srgbClr val="282828"/>
                </a:solidFill>
              </a:rPr>
              <a:t>Temporal extraction correctness, unseen category fault tolerance, missing value imputation.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Model Adapter Integration (5 Tests): </a:t>
            </a:r>
            <a:r>
              <a:rPr sz="1700">
                <a:solidFill>
                  <a:srgbClr val="282828"/>
                </a:solidFill>
              </a:rPr>
              <a:t>Model loading, prediction shape, output probability format (sum=1.0), external adapter compatibility.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7-Stage Prediction &amp; Repro (6 Tests): </a:t>
            </a:r>
            <a:r>
              <a:rPr sz="1700">
                <a:solidFill>
                  <a:srgbClr val="282828"/>
                </a:solidFill>
              </a:rPr>
              <a:t>End-to-end execution, auto-enrichment, deterministic scoring, batch prediction, corrupt data rejection.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Data Prep &amp; API (9 Tests): </a:t>
            </a:r>
            <a:r>
              <a:rPr sz="1700">
                <a:solidFill>
                  <a:srgbClr val="282828"/>
                </a:solidFill>
              </a:rPr>
              <a:t>100% join match, PII redaction, GET /health, GET /model/metadata, POST /predict, POST /predict/batch.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E: FastAPI Microservice &amp; Serving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Modern Lifespan Management: </a:t>
            </a:r>
            <a:r>
              <a:rPr sz="1700">
                <a:solidFill>
                  <a:srgbClr val="282828"/>
                </a:solidFill>
              </a:rPr>
              <a:t>Uses lifespan async context manager for clean startup loading and shutdown teardown.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Auto-Enriched Scoring (/predict): </a:t>
            </a:r>
            <a:r>
              <a:rPr sz="1700">
                <a:solidFill>
                  <a:srgbClr val="282828"/>
                </a:solidFill>
              </a:rPr>
              <a:t>Accepts lightweight transaction payload and enriches customer demographics automatically.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Direct Enriched Scoring (/predict/enriched): </a:t>
            </a:r>
            <a:r>
              <a:rPr sz="1700">
                <a:solidFill>
                  <a:srgbClr val="282828"/>
                </a:solidFill>
              </a:rPr>
              <a:t>Allows clients to supply complete demographic payloads directly.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High-Throughput Batch Scoring (/predict/batch): </a:t>
            </a:r>
            <a:r>
              <a:rPr sz="1700">
                <a:solidFill>
                  <a:srgbClr val="282828"/>
                </a:solidFill>
              </a:rPr>
              <a:t>Enables scoring bulk transaction arrays with sub-50ms latency.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Interactive OpenAPI / Swagger Docs: </a:t>
            </a:r>
            <a:r>
              <a:rPr sz="1700">
                <a:solidFill>
                  <a:srgbClr val="282828"/>
                </a:solidFill>
              </a:rPr>
              <a:t>Auto-generated interactive API sandbox reachable at http://localhost:8000/docs.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 F: Reproducibility, Docker &amp; CLI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Multi-Stage Dockerfile: </a:t>
            </a:r>
            <a:r>
              <a:rPr sz="1700">
                <a:solidFill>
                  <a:srgbClr val="282828"/>
                </a:solidFill>
              </a:rPr>
              <a:t>Containerized deployment ensuring 100% identical runtime across macOS, Linux, and Cloud.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Unified CLI (main.py): </a:t>
            </a:r>
            <a:r>
              <a:rPr sz="1700">
                <a:solidFill>
                  <a:srgbClr val="282828"/>
                </a:solidFill>
              </a:rPr>
              <a:t>Commands for --prepare-data, --train, --predict-sample, --predict-batch, --test, and --serve.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Master Diagnostic (check_all.py): </a:t>
            </a:r>
            <a:r>
              <a:rPr sz="1700">
                <a:solidFill>
                  <a:srgbClr val="282828"/>
                </a:solidFill>
              </a:rPr>
              <a:t>One-click 34-point diagnostic verifying all packages, datasets, tests, and deliverables.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Documentation Package: </a:t>
            </a:r>
            <a:r>
              <a:rPr sz="1700">
                <a:solidFill>
                  <a:srgbClr val="282828"/>
                </a:solidFill>
              </a:rPr>
              <a:t>Includes Week 2 Review, Week 3 Test Report, Architecture Guide, and Interactive Notebook.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Mentor Summary &amp; Hands-On Lab Exercises for Interns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Lab Exercise 1: Multi-Table Joining: </a:t>
            </a:r>
            <a:r>
              <a:rPr sz="1700">
                <a:solidFill>
                  <a:srgbClr val="282828"/>
                </a:solidFill>
              </a:rPr>
              <a:t>Have interns inspect how Customer_ID joins demographic signals and discuss PII privacy laws.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Lab Exercise 2: Plug in an External Model: </a:t>
            </a:r>
            <a:r>
              <a:rPr sz="1700">
                <a:solidFill>
                  <a:srgbClr val="282828"/>
                </a:solidFill>
              </a:rPr>
              <a:t>Task interns with creating an XGBoost classifier and wrapping it in ExternalModelAdapter.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Lab Exercise 3: Run the Test Suite: </a:t>
            </a:r>
            <a:r>
              <a:rPr sz="1700">
                <a:solidFill>
                  <a:srgbClr val="282828"/>
                </a:solidFill>
              </a:rPr>
              <a:t>Guide interns to execute `pytest tests/ -v` and explain how each test guarantees software stability.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9688"/>
                </a:solidFill>
              </a:rPr>
              <a:t>▶  Lab Exercise 4: Live API Interaction: </a:t>
            </a:r>
            <a:r>
              <a:rPr sz="1700">
                <a:solidFill>
                  <a:srgbClr val="282828"/>
                </a:solidFill>
              </a:rPr>
              <a:t>Launch `python main.py --serve` and test fraud scoring live via Swagger UI at `/docs`.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